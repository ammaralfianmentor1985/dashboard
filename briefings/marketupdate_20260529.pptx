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20117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UPDATE HARIAN PREMIUM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C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Kamis, 29 Mei 2026   •   Laporan Pasar Eksklusif — Institutional Grade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8016" y="621792"/>
            <a:ext cx="2862072" cy="1591056"/>
          </a:xfrm>
          <a:prstGeom prst="rect">
            <a:avLst/>
          </a:prstGeom>
          <a:solidFill>
            <a:srgbClr val="EEF8F3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" y="621792"/>
            <a:ext cx="50292" cy="15910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76656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US STOCK MARKET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95728" y="6766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BULLISH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8686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 Street Cetak Rekor Baru — Momentum AI Berlanjut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" y="113385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+0.55% ke 7.561 — all-time high [TheStreet, 28 Mei 2026]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 +0.91% ke 26.917 — reli saham AI &amp; teknologi [CNBC, 27 Mei 2026]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MSFT, ORCL, PLTR masing-masing naik +3% s.d. +4% [TheStreet, 28 Mei]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Gencatan senjata AS-Iran diperpanjang 60 hari — risk-on menguat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36392" y="621792"/>
            <a:ext cx="2862072" cy="1591056"/>
          </a:xfrm>
          <a:prstGeom prst="rect">
            <a:avLst/>
          </a:prstGeom>
          <a:solidFill>
            <a:srgbClr val="FDF8EC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621792"/>
            <a:ext cx="50292" cy="159105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676656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COMMODITIES MARKET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04104" y="6766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BULLISH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36976" y="8686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Emas di Level $4.506 — Safe-Haven &amp; Geopolitik Jadi Katalis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36976" y="113385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Emas (XAU) $4.506/troy oz, +1.03% sehari [Trading Economics, 29 Mei 2026]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Emas +35.67% year-on-year — jauh melampaui aset konvensional [TE]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Minyak Brent +2.02% ke $96.19/bbl — harapan normalisasi Hormuz [Fortune]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Inflasi global &amp; safe-haven demand terus mendukung komoditas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44768" y="621792"/>
            <a:ext cx="286207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621792"/>
            <a:ext cx="50292" cy="15910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6766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 SENTIMENT SUMMARY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877824"/>
          <a:ext cx="2724912" cy="1243584"/>
        </p:xfrm>
        <a:graphic>
          <a:graphicData uri="http://schemas.openxmlformats.org/drawingml/2006/table">
            <a:tbl>
              <a:tblPr/>
              <a:tblGrid>
                <a:gridCol w="1463040"/>
                <a:gridCol w="1261872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Stocks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Bullish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Emas (Gold)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Bullish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Minyak (Oil)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Bullish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Netral-Bullish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Forex (Major)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Mixed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IHSG / IDR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Bearish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128016" y="2286000"/>
            <a:ext cx="2862072" cy="1591056"/>
          </a:xfrm>
          <a:prstGeom prst="rect">
            <a:avLst/>
          </a:prstGeom>
          <a:solidFill>
            <a:srgbClr val="FFFBF0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28016" y="2286000"/>
            <a:ext cx="50292" cy="1591056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234086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  CRYPTO MARKET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395728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4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NETRAL-BULLISH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28600" y="25328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Bertahan di Atas $77.000 — Momentum Institusional Terjaga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28600" y="279806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 di kisaran $77.000–$77.500 — level kuat [Yahoo Finance, Mei 2026]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stabil $2.089–$2.115 — minat institusional terjaga [CoinDCX]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risk-on dari Wall Street turut mendukung pasar kripto global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136392" y="2286000"/>
            <a:ext cx="2862072" cy="1591056"/>
          </a:xfrm>
          <a:prstGeom prst="rect">
            <a:avLst/>
          </a:prstGeom>
          <a:solidFill>
            <a:srgbClr val="EEF4FC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136392" y="2286000"/>
            <a:ext cx="50292" cy="1591056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36976" y="234086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FOREX MARKET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4041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MIXED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236976" y="25328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Perkasa, Rupiah Tertekan — Peluang di Pair Utama</a:t>
            </a:r>
            <a:endParaRPr lang="en-US" sz="8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27832" y="2798064"/>
          <a:ext cx="2724912" cy="749808"/>
        </p:xfrm>
        <a:graphic>
          <a:graphicData uri="http://schemas.openxmlformats.org/drawingml/2006/table">
            <a:tbl>
              <a:tblPr/>
              <a:tblGrid>
                <a:gridCol w="850392"/>
                <a:gridCol w="1005840"/>
                <a:gridCol w="868680"/>
              </a:tblGrid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USD/IDR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17.772,90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USD Kuat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EUR/USD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Stabil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USD/JPY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159,39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JPY Lemah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0"/>
          <p:cNvSpPr/>
          <p:nvPr/>
        </p:nvSpPr>
        <p:spPr>
          <a:xfrm>
            <a:off x="3236976" y="36027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Trading Economics / Bank Indonesia, 28 Mei 2026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6144768" y="2286000"/>
            <a:ext cx="2862072" cy="1591056"/>
          </a:xfrm>
          <a:prstGeom prst="rect">
            <a:avLst/>
          </a:prstGeom>
          <a:solidFill>
            <a:srgbClr val="FEF4F3"/>
          </a:solidFill>
          <a:ln w="6350">
            <a:solidFill>
              <a:srgbClr val="E5E3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144768" y="2286000"/>
            <a:ext cx="50292" cy="15910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45352" y="234086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 INDONESIA ECONOMIC UPDATE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841248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BEARISH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245352" y="25328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IHSG Catat Kinerja Terburuk Sejak Era Soeharto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245352" y="279806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IHSG -29% YTD — kinerja terburuk di dunia 2026 [CNBC Indonesia, 29 Mei]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bulan berturut di zona merah — preseden terakhir menjelang Krisis 1997 [CNBCI]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Outflow asing Rp 45,45 triliun Jan–Mei 2026 [CNBC Indonesia, 26 Mei]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Rupiah -7.20% YTD &amp; -2.7% di Mei — terburuk sejak Oktober 2024 [Trading Econ.]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128016" y="3931920"/>
            <a:ext cx="8887968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398678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POTENSI KEUNTUNGAN HARI INI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256032" y="41696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US TECH STOCKS  —  </a:t>
            </a:r>
            <a:pPr indent="0" marL="0">
              <a:buNone/>
            </a:pPr>
            <a:r>
              <a:rPr lang="en-US" sz="7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reli AI masih kuat. Eksposur ke saham teknologi (AI, cloud, semikonduktor) &amp; ETF Nasdaq layak dipertimbangkan.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3145536" y="4023360"/>
            <a:ext cx="0" cy="658368"/>
          </a:xfrm>
          <a:prstGeom prst="line">
            <a:avLst/>
          </a:prstGeom>
          <a:noFill/>
          <a:ln w="6350">
            <a:solidFill>
              <a:srgbClr val="B8962E"/>
            </a:solidFill>
            <a:prstDash val="dash"/>
          </a:ln>
        </p:spPr>
      </p:sp>
      <p:sp>
        <p:nvSpPr>
          <p:cNvPr id="45" name="Text 41"/>
          <p:cNvSpPr/>
          <p:nvPr/>
        </p:nvSpPr>
        <p:spPr>
          <a:xfrm>
            <a:off x="3200400" y="41696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 / EMAS  —  </a:t>
            </a:r>
            <a:pPr indent="0" marL="0">
              <a:buNone/>
            </a:pPr>
            <a:r>
              <a:rPr lang="en-US" sz="7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Emas ATH $4.506/oz — ideal sebagai lindung nilai sekaligus aset pertumbuhan jangka menengah-panjang.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089904" y="4023360"/>
            <a:ext cx="0" cy="658368"/>
          </a:xfrm>
          <a:prstGeom prst="line">
            <a:avLst/>
          </a:prstGeom>
          <a:noFill/>
          <a:ln w="6350">
            <a:solidFill>
              <a:srgbClr val="B8962E"/>
            </a:solidFill>
            <a:prstDash val="dash"/>
          </a:ln>
        </p:spPr>
      </p:sp>
      <p:sp>
        <p:nvSpPr>
          <p:cNvPr id="47" name="Text 43"/>
          <p:cNvSpPr/>
          <p:nvPr/>
        </p:nvSpPr>
        <p:spPr>
          <a:xfrm>
            <a:off x="6144768" y="41696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MINYAK BRENT  —  </a:t>
            </a:r>
            <a:pPr indent="0" marL="0">
              <a:buNone/>
            </a:pPr>
            <a:r>
              <a:rPr lang="en-US" sz="7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$96/bbl. Normalisasi Selat Hormuz belum pasti; peluang menarik di instrumen berbasis energi.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128016" y="4736592"/>
            <a:ext cx="8887968" cy="0"/>
          </a:xfrm>
          <a:prstGeom prst="line">
            <a:avLst/>
          </a:prstGeom>
          <a:noFill/>
          <a:ln w="9525">
            <a:solidFill>
              <a:srgbClr val="B8962E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28016" y="4773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Prepared by   </a:t>
            </a:r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 Ashford</a:t>
            </a:r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Senior Investment Consultant &amp; Portfolio Manager   |   revan@onetwomarkets.co.za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7223760" y="4773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ini untuk tujuan informasi. Bukan rekomendasi investasi.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Update Harian Premium - 29 Mei 2026</dc:title>
  <dc:subject>PptxGenJS Presentation</dc:subject>
  <dc:creator>PptxGenJS</dc:creator>
  <cp:lastModifiedBy>PptxGenJS</cp:lastModifiedBy>
  <cp:revision>1</cp:revision>
  <dcterms:created xsi:type="dcterms:W3CDTF">2026-05-29T09:38:32Z</dcterms:created>
  <dcterms:modified xsi:type="dcterms:W3CDTF">2026-05-29T09:38:32Z</dcterms:modified>
</cp:coreProperties>
</file>